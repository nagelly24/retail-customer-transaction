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7"/>
  </p:notesMasterIdLst>
  <p:sldIdLst>
    <p:sldId id="256" r:id="rId2"/>
    <p:sldId id="257" r:id="rId3"/>
    <p:sldId id="263" r:id="rId4"/>
    <p:sldId id="259" r:id="rId5"/>
    <p:sldId id="289" r:id="rId6"/>
  </p:sldIdLst>
  <p:sldSz cx="9144000" cy="5143500" type="screen16x9"/>
  <p:notesSz cx="6858000" cy="9144000"/>
  <p:embeddedFontLst>
    <p:embeddedFont>
      <p:font typeface="Cal Sans" panose="020B0604020202020204" charset="0"/>
      <p:regular r:id="rId8"/>
    </p:embeddedFont>
    <p:embeddedFont>
      <p:font typeface="Nunito Light" pitchFamily="2" charset="0"/>
      <p:regular r:id="rId9"/>
      <p:italic r:id="rId10"/>
    </p:embeddedFont>
    <p:embeddedFont>
      <p:font typeface="Raleway" pitchFamily="2" charset="0"/>
      <p:regular r:id="rId11"/>
      <p:bold r:id="rId12"/>
      <p:italic r:id="rId13"/>
      <p:boldItalic r:id="rId14"/>
    </p:embeddedFont>
    <p:embeddedFont>
      <p:font typeface="Teacher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2E8230-8FDF-4FC8-9D74-70456B5E2A4B}">
  <a:tblStyle styleId="{D62E8230-8FDF-4FC8-9D74-70456B5E2A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2C60B8-0682-4EC5-BCDD-6818172912E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370" y="-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cfaabf0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cfaabf0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7F75DCDB-9C56-1C55-9021-A7E0A15A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431007ba2_0_215:notes">
            <a:extLst>
              <a:ext uri="{FF2B5EF4-FFF2-40B4-BE49-F238E27FC236}">
                <a16:creationId xmlns:a16="http://schemas.microsoft.com/office/drawing/2014/main" id="{6CFAF432-4D07-A192-7618-7F96D3BDD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431007ba2_0_215:notes">
            <a:extLst>
              <a:ext uri="{FF2B5EF4-FFF2-40B4-BE49-F238E27FC236}">
                <a16:creationId xmlns:a16="http://schemas.microsoft.com/office/drawing/2014/main" id="{60BAAAF2-0F01-A91A-6A10-5CA2BA058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8930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100" y="3852000"/>
            <a:ext cx="91440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8625" y="2966200"/>
            <a:ext cx="6376800" cy="163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>
                <a:latin typeface="Cal Sans"/>
                <a:ea typeface="Cal Sans"/>
                <a:cs typeface="Cal Sans"/>
                <a:sym typeface="Cal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755325" y="3109025"/>
            <a:ext cx="2049000" cy="14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46100" y="355600"/>
            <a:ext cx="8169300" cy="2610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/>
          <p:nvPr/>
        </p:nvSpPr>
        <p:spPr>
          <a:xfrm rot="10800000" flipH="1">
            <a:off x="100" y="3852000"/>
            <a:ext cx="91440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100" y="-2525"/>
            <a:ext cx="91440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546100" y="437375"/>
            <a:ext cx="816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rot="-5400200">
            <a:off x="-1927050" y="1926000"/>
            <a:ext cx="51459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546100" y="2350525"/>
            <a:ext cx="2956500" cy="22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546100" y="539500"/>
            <a:ext cx="8169300" cy="16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3599650" y="2350525"/>
            <a:ext cx="5115600" cy="279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8"/>
          <p:cNvSpPr/>
          <p:nvPr/>
        </p:nvSpPr>
        <p:spPr>
          <a:xfrm rot="-5400200">
            <a:off x="-1927050" y="1926000"/>
            <a:ext cx="51459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rot="10800000" flipH="1">
            <a:off x="100" y="3852000"/>
            <a:ext cx="91440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00" y="-2525"/>
            <a:ext cx="91440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 rot="5400200" flipH="1">
            <a:off x="5925125" y="1926000"/>
            <a:ext cx="51459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546100" y="445025"/>
            <a:ext cx="816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2" hasCustomPrompt="1"/>
          </p:nvPr>
        </p:nvSpPr>
        <p:spPr>
          <a:xfrm>
            <a:off x="7577200" y="1484450"/>
            <a:ext cx="846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3" hasCustomPrompt="1"/>
          </p:nvPr>
        </p:nvSpPr>
        <p:spPr>
          <a:xfrm>
            <a:off x="7577200" y="3085475"/>
            <a:ext cx="846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4" hasCustomPrompt="1"/>
          </p:nvPr>
        </p:nvSpPr>
        <p:spPr>
          <a:xfrm>
            <a:off x="7577200" y="2018846"/>
            <a:ext cx="846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5" hasCustomPrompt="1"/>
          </p:nvPr>
        </p:nvSpPr>
        <p:spPr>
          <a:xfrm>
            <a:off x="7577200" y="3620950"/>
            <a:ext cx="846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 hasCustomPrompt="1"/>
          </p:nvPr>
        </p:nvSpPr>
        <p:spPr>
          <a:xfrm>
            <a:off x="7577200" y="2550000"/>
            <a:ext cx="846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7" hasCustomPrompt="1"/>
          </p:nvPr>
        </p:nvSpPr>
        <p:spPr>
          <a:xfrm>
            <a:off x="7577200" y="4156425"/>
            <a:ext cx="8469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717725" y="1484450"/>
            <a:ext cx="462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717725" y="2024246"/>
            <a:ext cx="4629000" cy="4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713225" y="2549999"/>
            <a:ext cx="462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3"/>
          </p:nvPr>
        </p:nvSpPr>
        <p:spPr>
          <a:xfrm>
            <a:off x="713225" y="3085474"/>
            <a:ext cx="462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4"/>
          </p:nvPr>
        </p:nvSpPr>
        <p:spPr>
          <a:xfrm>
            <a:off x="713225" y="3620948"/>
            <a:ext cx="462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5"/>
          </p:nvPr>
        </p:nvSpPr>
        <p:spPr>
          <a:xfrm>
            <a:off x="717725" y="4156423"/>
            <a:ext cx="4629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 rot="-5400200">
            <a:off x="-1927050" y="1926000"/>
            <a:ext cx="51459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546100" y="2350525"/>
            <a:ext cx="2956500" cy="22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>
          <a:xfrm>
            <a:off x="546100" y="539500"/>
            <a:ext cx="8169300" cy="16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>
            <a:spLocks noGrp="1"/>
          </p:cNvSpPr>
          <p:nvPr>
            <p:ph type="pic" idx="2"/>
          </p:nvPr>
        </p:nvSpPr>
        <p:spPr>
          <a:xfrm>
            <a:off x="3599650" y="2350525"/>
            <a:ext cx="5115600" cy="279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 rot="10800000" flipH="1">
            <a:off x="100" y="3852000"/>
            <a:ext cx="91440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46100" y="445025"/>
            <a:ext cx="817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1"/>
          </p:nvPr>
        </p:nvSpPr>
        <p:spPr>
          <a:xfrm>
            <a:off x="546100" y="1249125"/>
            <a:ext cx="2679000" cy="11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2"/>
          </p:nvPr>
        </p:nvSpPr>
        <p:spPr>
          <a:xfrm>
            <a:off x="3295551" y="1249125"/>
            <a:ext cx="2679000" cy="11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3"/>
          </p:nvPr>
        </p:nvSpPr>
        <p:spPr>
          <a:xfrm>
            <a:off x="6045001" y="1249125"/>
            <a:ext cx="2679000" cy="11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4"/>
          </p:nvPr>
        </p:nvSpPr>
        <p:spPr>
          <a:xfrm>
            <a:off x="546100" y="4001900"/>
            <a:ext cx="2679000" cy="7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5"/>
          </p:nvPr>
        </p:nvSpPr>
        <p:spPr>
          <a:xfrm>
            <a:off x="3291150" y="4001900"/>
            <a:ext cx="2679000" cy="7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6"/>
          </p:nvPr>
        </p:nvSpPr>
        <p:spPr>
          <a:xfrm>
            <a:off x="6036200" y="4001900"/>
            <a:ext cx="2679000" cy="7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>
            <a:spLocks noGrp="1"/>
          </p:cNvSpPr>
          <p:nvPr>
            <p:ph type="pic" idx="7"/>
          </p:nvPr>
        </p:nvSpPr>
        <p:spPr>
          <a:xfrm>
            <a:off x="546100" y="2514650"/>
            <a:ext cx="2679000" cy="14061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8"/>
          <p:cNvSpPr>
            <a:spLocks noGrp="1"/>
          </p:cNvSpPr>
          <p:nvPr>
            <p:ph type="pic" idx="8"/>
          </p:nvPr>
        </p:nvSpPr>
        <p:spPr>
          <a:xfrm>
            <a:off x="3295551" y="2514650"/>
            <a:ext cx="2679000" cy="14061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8"/>
          <p:cNvSpPr>
            <a:spLocks noGrp="1"/>
          </p:cNvSpPr>
          <p:nvPr>
            <p:ph type="pic" idx="9"/>
          </p:nvPr>
        </p:nvSpPr>
        <p:spPr>
          <a:xfrm>
            <a:off x="6045000" y="2514650"/>
            <a:ext cx="2679000" cy="140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 rot="10800000" flipH="1">
            <a:off x="100" y="3852000"/>
            <a:ext cx="91440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/>
          <p:nvPr/>
        </p:nvSpPr>
        <p:spPr>
          <a:xfrm rot="5400200" flipH="1">
            <a:off x="5925125" y="1926000"/>
            <a:ext cx="5145900" cy="1291500"/>
          </a:xfrm>
          <a:prstGeom prst="rect">
            <a:avLst/>
          </a:prstGeom>
          <a:gradFill>
            <a:gsLst>
              <a:gs pos="0">
                <a:srgbClr val="FFFFFF"/>
              </a:gs>
              <a:gs pos="81000">
                <a:srgbClr val="E8F6FF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eachers"/>
              <a:ea typeface="Teachers"/>
              <a:cs typeface="Teachers"/>
              <a:sym typeface="Teacher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●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○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■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●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○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■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●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○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eachers"/>
              <a:buChar char="■"/>
              <a:defRPr sz="1200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3" r:id="rId11"/>
    <p:sldLayoutId id="2147483664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andbars.wordpress.com/category/digital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>
            <a:spLocks noGrp="1"/>
          </p:cNvSpPr>
          <p:nvPr>
            <p:ph type="ctrTitle"/>
          </p:nvPr>
        </p:nvSpPr>
        <p:spPr>
          <a:xfrm>
            <a:off x="428625" y="2836190"/>
            <a:ext cx="5026778" cy="17677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800" b="1" dirty="0"/>
              <a:t>Retail Customer &amp; Transaction</a:t>
            </a:r>
          </a:p>
        </p:txBody>
      </p:sp>
      <p:sp>
        <p:nvSpPr>
          <p:cNvPr id="139" name="Google Shape;139;p28"/>
          <p:cNvSpPr txBox="1">
            <a:spLocks noGrp="1"/>
          </p:cNvSpPr>
          <p:nvPr>
            <p:ph type="subTitle" idx="1"/>
          </p:nvPr>
        </p:nvSpPr>
        <p:spPr>
          <a:xfrm>
            <a:off x="6505579" y="2950447"/>
            <a:ext cx="2209796" cy="18374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/>
              <a:t>Grupo </a:t>
            </a:r>
            <a:r>
              <a:rPr lang="en-US" sz="1700" dirty="0"/>
              <a:t>#1: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Valentina Falconi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Fernando Larrosa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Roberto Reyes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/>
              <a:t>Angel Vera</a:t>
            </a:r>
          </a:p>
          <a:p>
            <a:pPr marL="0" indent="0"/>
            <a:r>
              <a:rPr lang="en-US" sz="1700" dirty="0"/>
              <a:t>Nagelly Vergara</a:t>
            </a:r>
          </a:p>
        </p:txBody>
      </p:sp>
      <p:pic>
        <p:nvPicPr>
          <p:cNvPr id="5" name="Marcador de posición de 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46850FB-1A62-F5EE-717B-C17D5C974A88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0510" b="20510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title"/>
          </p:nvPr>
        </p:nvSpPr>
        <p:spPr>
          <a:xfrm>
            <a:off x="546100" y="437375"/>
            <a:ext cx="816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Distribución de ventas por producto</a:t>
            </a:r>
            <a:endParaRPr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AB5D22-E048-1B74-45C8-201800C28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311307"/>
            <a:ext cx="8978900" cy="25208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6;p30">
            <a:extLst>
              <a:ext uri="{FF2B5EF4-FFF2-40B4-BE49-F238E27FC236}">
                <a16:creationId xmlns:a16="http://schemas.microsoft.com/office/drawing/2014/main" id="{8FD2275D-5789-2543-19DB-6B6BCD83B00E}"/>
              </a:ext>
            </a:extLst>
          </p:cNvPr>
          <p:cNvSpPr txBox="1">
            <a:spLocks/>
          </p:cNvSpPr>
          <p:nvPr/>
        </p:nvSpPr>
        <p:spPr>
          <a:xfrm>
            <a:off x="546100" y="445025"/>
            <a:ext cx="8169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9pPr>
          </a:lstStyle>
          <a:p>
            <a:r>
              <a:rPr lang="es-EC" b="1" dirty="0"/>
              <a:t>ROI por Tipo de Campaña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BAE21B-BC7F-2AEF-F52E-A357AB2B4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7929"/>
            <a:ext cx="9144000" cy="27676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6;p30">
            <a:extLst>
              <a:ext uri="{FF2B5EF4-FFF2-40B4-BE49-F238E27FC236}">
                <a16:creationId xmlns:a16="http://schemas.microsoft.com/office/drawing/2014/main" id="{28DE31F6-EAB7-2748-AD14-B5C1AB090327}"/>
              </a:ext>
            </a:extLst>
          </p:cNvPr>
          <p:cNvSpPr txBox="1">
            <a:spLocks/>
          </p:cNvSpPr>
          <p:nvPr/>
        </p:nvSpPr>
        <p:spPr>
          <a:xfrm>
            <a:off x="546100" y="445025"/>
            <a:ext cx="8169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 Sans"/>
              <a:buNone/>
              <a:defRPr sz="26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9pPr>
          </a:lstStyle>
          <a:p>
            <a:r>
              <a:rPr lang="es-EC" b="1" dirty="0"/>
              <a:t>Distribución de ratings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010AED-8101-D41F-5CB6-57E28C83F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62" y="1131445"/>
            <a:ext cx="7331075" cy="2880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F82EBA28-9454-95E2-1DFF-018C4CB1D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>
            <a:extLst>
              <a:ext uri="{FF2B5EF4-FFF2-40B4-BE49-F238E27FC236}">
                <a16:creationId xmlns:a16="http://schemas.microsoft.com/office/drawing/2014/main" id="{A817EDB9-D545-0DC0-DA4F-CBDCF591F8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100" y="445025"/>
            <a:ext cx="816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C" b="1" dirty="0"/>
              <a:t>Conclusiones</a:t>
            </a:r>
            <a:endParaRPr dirty="0"/>
          </a:p>
        </p:txBody>
      </p:sp>
      <p:sp>
        <p:nvSpPr>
          <p:cNvPr id="33" name="Google Shape;255;p36">
            <a:extLst>
              <a:ext uri="{FF2B5EF4-FFF2-40B4-BE49-F238E27FC236}">
                <a16:creationId xmlns:a16="http://schemas.microsoft.com/office/drawing/2014/main" id="{6237CD7D-6648-05FB-F2F0-82EA5DCAB5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13825" y="2032575"/>
            <a:ext cx="3322200" cy="9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5" name="Google Shape;231;p34">
            <a:extLst>
              <a:ext uri="{FF2B5EF4-FFF2-40B4-BE49-F238E27FC236}">
                <a16:creationId xmlns:a16="http://schemas.microsoft.com/office/drawing/2014/main" id="{55024B91-A20C-0795-402A-80BBA9499A02}"/>
              </a:ext>
            </a:extLst>
          </p:cNvPr>
          <p:cNvSpPr txBox="1">
            <a:spLocks/>
          </p:cNvSpPr>
          <p:nvPr/>
        </p:nvSpPr>
        <p:spPr>
          <a:xfrm>
            <a:off x="705173" y="2402581"/>
            <a:ext cx="7610396" cy="74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just"/>
            <a:r>
              <a:rPr lang="es-EC" sz="2000" dirty="0"/>
              <a:t>Las campañas SEM muestran un ROI positivo, mientras que las campañas por SMS no están generando los resultados esperados.</a:t>
            </a:r>
            <a:endParaRPr lang="es-EC" sz="2000" noProof="0" dirty="0"/>
          </a:p>
        </p:txBody>
      </p:sp>
      <p:sp>
        <p:nvSpPr>
          <p:cNvPr id="37" name="Google Shape;233;p34">
            <a:extLst>
              <a:ext uri="{FF2B5EF4-FFF2-40B4-BE49-F238E27FC236}">
                <a16:creationId xmlns:a16="http://schemas.microsoft.com/office/drawing/2014/main" id="{E9C3CC3F-BEFD-473F-FAFE-FAD0E8707F44}"/>
              </a:ext>
            </a:extLst>
          </p:cNvPr>
          <p:cNvSpPr txBox="1">
            <a:spLocks/>
          </p:cNvSpPr>
          <p:nvPr/>
        </p:nvSpPr>
        <p:spPr>
          <a:xfrm>
            <a:off x="705172" y="1196776"/>
            <a:ext cx="7610395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25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 Sans"/>
              <a:buNone/>
              <a:defRPr sz="3000" b="0" i="0" u="none" strike="noStrike" cap="none">
                <a:solidFill>
                  <a:schemeClr val="dk1"/>
                </a:solidFill>
                <a:latin typeface="Cal Sans"/>
                <a:ea typeface="Cal Sans"/>
                <a:cs typeface="Cal Sans"/>
                <a:sym typeface="Cal Sans"/>
              </a:defRPr>
            </a:lvl9pPr>
          </a:lstStyle>
          <a:p>
            <a:pPr algn="just"/>
            <a:r>
              <a:rPr lang="es-EC" sz="2000" noProof="0" dirty="0">
                <a:latin typeface="Teachers" panose="020B0604020202020204" charset="0"/>
              </a:rPr>
              <a:t>Las categorías de productos tecnológicos concentran la mayor parte de los ingresos.</a:t>
            </a:r>
          </a:p>
        </p:txBody>
      </p:sp>
      <p:cxnSp>
        <p:nvCxnSpPr>
          <p:cNvPr id="38" name="Google Shape;234;p34">
            <a:extLst>
              <a:ext uri="{FF2B5EF4-FFF2-40B4-BE49-F238E27FC236}">
                <a16:creationId xmlns:a16="http://schemas.microsoft.com/office/drawing/2014/main" id="{AF765CA5-D965-28D0-0576-894DB924F67C}"/>
              </a:ext>
            </a:extLst>
          </p:cNvPr>
          <p:cNvCxnSpPr>
            <a:cxnSpLocks/>
          </p:cNvCxnSpPr>
          <p:nvPr/>
        </p:nvCxnSpPr>
        <p:spPr>
          <a:xfrm>
            <a:off x="678024" y="2163598"/>
            <a:ext cx="760780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231;p34">
            <a:extLst>
              <a:ext uri="{FF2B5EF4-FFF2-40B4-BE49-F238E27FC236}">
                <a16:creationId xmlns:a16="http://schemas.microsoft.com/office/drawing/2014/main" id="{9E1A14BA-F2FD-25CA-7401-ED77D80D08DC}"/>
              </a:ext>
            </a:extLst>
          </p:cNvPr>
          <p:cNvSpPr txBox="1">
            <a:spLocks/>
          </p:cNvSpPr>
          <p:nvPr/>
        </p:nvSpPr>
        <p:spPr>
          <a:xfrm>
            <a:off x="705172" y="3283842"/>
            <a:ext cx="7610395" cy="150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600" b="0" i="0" u="none" strike="noStrike" cap="none">
                <a:solidFill>
                  <a:schemeClr val="dk1"/>
                </a:solidFill>
                <a:latin typeface="Teachers"/>
                <a:ea typeface="Teachers"/>
                <a:cs typeface="Teachers"/>
                <a:sym typeface="Teacher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just"/>
            <a:r>
              <a:rPr lang="es-EC" sz="2000" dirty="0"/>
              <a:t>La mayoría de los clientes otorgan calificaciones altas, indicando satisfacción respecto a los productos, mientras que las calificaciones bajas señalan posibles áreas de mejora.</a:t>
            </a:r>
            <a:endParaRPr lang="en-US" sz="2000" dirty="0"/>
          </a:p>
        </p:txBody>
      </p:sp>
      <p:cxnSp>
        <p:nvCxnSpPr>
          <p:cNvPr id="42" name="Google Shape;234;p34">
            <a:extLst>
              <a:ext uri="{FF2B5EF4-FFF2-40B4-BE49-F238E27FC236}">
                <a16:creationId xmlns:a16="http://schemas.microsoft.com/office/drawing/2014/main" id="{21A2EC13-4565-0E6E-4702-821BC71C6FAE}"/>
              </a:ext>
            </a:extLst>
          </p:cNvPr>
          <p:cNvCxnSpPr>
            <a:cxnSpLocks/>
          </p:cNvCxnSpPr>
          <p:nvPr/>
        </p:nvCxnSpPr>
        <p:spPr>
          <a:xfrm>
            <a:off x="705173" y="3379092"/>
            <a:ext cx="76103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48531552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Pitch Deck by Slidesgo">
  <a:themeElements>
    <a:clrScheme name="Simple Light">
      <a:dk1>
        <a:srgbClr val="131212"/>
      </a:dk1>
      <a:lt1>
        <a:srgbClr val="FFFFFF"/>
      </a:lt1>
      <a:dk2>
        <a:srgbClr val="D0EDFF"/>
      </a:dk2>
      <a:lt2>
        <a:srgbClr val="A3D9FA"/>
      </a:lt2>
      <a:accent1>
        <a:srgbClr val="84C1E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121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93</Words>
  <Application>Microsoft Office PowerPoint</Application>
  <PresentationFormat>Presentación en pantalla (16:9)</PresentationFormat>
  <Paragraphs>14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Nunito Light</vt:lpstr>
      <vt:lpstr>Teachers</vt:lpstr>
      <vt:lpstr>Cal Sans</vt:lpstr>
      <vt:lpstr>Raleway</vt:lpstr>
      <vt:lpstr>Town Hall Pitch Deck by Slidesgo</vt:lpstr>
      <vt:lpstr>Retail Customer &amp; Transaction</vt:lpstr>
      <vt:lpstr>Distribución de ventas por producto</vt:lpstr>
      <vt:lpstr>Presentación de PowerPoint</vt:lpstr>
      <vt:lpstr>Presentación de PowerPoint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Valentina Daniela Falconi Ortiz</cp:lastModifiedBy>
  <cp:revision>21</cp:revision>
  <dcterms:modified xsi:type="dcterms:W3CDTF">2025-08-23T15:57:48Z</dcterms:modified>
</cp:coreProperties>
</file>